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21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99"/>
    <a:srgbClr val="0886A0"/>
    <a:srgbClr val="0BB2D5"/>
    <a:srgbClr val="0A546A"/>
    <a:srgbClr val="5B4EC7"/>
    <a:srgbClr val="687DE0"/>
    <a:srgbClr val="014B43"/>
    <a:srgbClr val="2977B7"/>
    <a:srgbClr val="53A2B5"/>
    <a:srgbClr val="FC9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261" autoAdjust="0"/>
  </p:normalViewPr>
  <p:slideViewPr>
    <p:cSldViewPr snapToGrid="0">
      <p:cViewPr varScale="1">
        <p:scale>
          <a:sx n="115" d="100"/>
          <a:sy n="115" d="100"/>
        </p:scale>
        <p:origin x="418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23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4D495-273D-46E3-8952-8C68E204F36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8B589-D696-468B-93B7-AE3B06BB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0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400" cap="all" spc="-50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9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6214"/>
            <a:ext cx="10058400" cy="402336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1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400" b="0" cap="none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8360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rgbClr val="009799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>
              <a:defRPr>
                <a:effectLst/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983F6F6B-43EE-47B5-B5A0-550CE76AFD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49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>
            <a:lvl1pPr>
              <a:defRPr sz="4400" cap="all" baseline="0">
                <a:solidFill>
                  <a:srgbClr val="2D2C6C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0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11F6657-4DEC-422E-96BC-1FC3817F137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602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2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5321389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19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1A68A121-632D-4FD0-8041-D8A0931562E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51427" y="5353370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6283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6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27380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90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3160" y="4921113"/>
            <a:ext cx="12188825" cy="19050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254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40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76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 &amp; 3 columns slid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-15800" y="1236100"/>
            <a:ext cx="12192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13982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600">
                <a:solidFill>
                  <a:schemeClr val="lt2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2"/>
          </p:nvPr>
        </p:nvSpPr>
        <p:spPr>
          <a:xfrm>
            <a:off x="14738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4738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3"/>
          </p:nvPr>
        </p:nvSpPr>
        <p:spPr>
          <a:xfrm>
            <a:off x="46870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46870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 idx="5"/>
          </p:nvPr>
        </p:nvSpPr>
        <p:spPr>
          <a:xfrm>
            <a:off x="7900201" y="2438400"/>
            <a:ext cx="2818000" cy="117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2400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None/>
              <a:defRPr sz="2133">
                <a:solidFill>
                  <a:srgbClr val="666666"/>
                </a:solidFill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7900205" y="3557167"/>
            <a:ext cx="2818000" cy="14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0E847903-2F5A-45D3-8F07-D405AAD8EA4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6174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7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67"/>
          <p:cNvSpPr txBox="1">
            <a:spLocks noGrp="1"/>
          </p:cNvSpPr>
          <p:nvPr>
            <p:ph type="body" idx="1"/>
          </p:nvPr>
        </p:nvSpPr>
        <p:spPr>
          <a:xfrm>
            <a:off x="1383833" y="1805264"/>
            <a:ext cx="9424400" cy="4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spcBef>
                <a:spcPts val="800"/>
              </a:spcBef>
              <a:spcAft>
                <a:spcPts val="0"/>
              </a:spcAft>
              <a:buClr>
                <a:srgbClr val="009799"/>
              </a:buClr>
              <a:buSzPts val="2400"/>
              <a:buChar char="●"/>
              <a:defRPr b="0" i="0"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defRPr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79" name="Google Shape;79;p67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buClr>
                <a:schemeClr val="accent1"/>
              </a:buClr>
              <a:buSzPts val="900"/>
              <a:buFont typeface="Trebuchet MS"/>
              <a:buNone/>
              <a:defRPr sz="900" b="0" i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C95F995B-915C-45E9-890D-46F36D6CEE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88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FEC609ED-C234-434C-9336-4107E4E400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897298" y="5278584"/>
            <a:ext cx="2291542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4825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59F5720-33C4-4F82-905F-852062826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928" y="1179829"/>
            <a:ext cx="6311555" cy="4658216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2ABF2-A144-4733-9C41-9F71D25E8116}"/>
              </a:ext>
            </a:extLst>
          </p:cNvPr>
          <p:cNvSpPr>
            <a:spLocks noChangeAspect="1"/>
          </p:cNvSpPr>
          <p:nvPr userDrawn="1"/>
        </p:nvSpPr>
        <p:spPr>
          <a:xfrm>
            <a:off x="442421" y="521263"/>
            <a:ext cx="3682723" cy="57924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AE0941-A3BC-4273-8CFC-35758DD9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t" anchorCtr="0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6B1363-9C99-4D6B-B19F-1696ACCCD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F52A4DF-BE01-429D-BF75-4D898724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0BD7A-E6C1-49E4-B644-7DEE137733B8}" type="datetime1">
              <a:rPr lang="en-US" smtClean="0"/>
              <a:t>6/9/2026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8A4E03-EE12-494D-8257-0589CD6E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B9DD57C-84A3-4E13-A3AB-862F6007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262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83833" y="1114667"/>
            <a:ext cx="9424400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83767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6404831" y="1805267"/>
            <a:ext cx="4403200" cy="420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104245" y="61299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 b="0" i="0"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688451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331124-CBE6-4E80-9B8A-5E64C225F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292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30520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0815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600" y="2893422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6597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2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19801"/>
            <a:ext cx="12188825" cy="139984"/>
          </a:xfrm>
          <a:prstGeom prst="rect">
            <a:avLst/>
          </a:prstGeom>
          <a:solidFill>
            <a:srgbClr val="009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22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762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296521"/>
            <a:ext cx="12188825" cy="561479"/>
          </a:xfrm>
          <a:prstGeom prst="rect">
            <a:avLst/>
          </a:prstGeom>
          <a:solidFill>
            <a:srgbClr val="2D2C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77C1FC-0EEF-464C-AA61-3DD305F0514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solidFill>
            <a:srgbClr val="2D2C6C"/>
          </a:solidFill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F81431C-19C2-49F0-A7DA-ED1666AEB8D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oogle Shape;179;p3" descr="A close up of a logo&#10;&#10;Description automatically generated">
            <a:extLst>
              <a:ext uri="{FF2B5EF4-FFF2-40B4-BE49-F238E27FC236}">
                <a16:creationId xmlns:a16="http://schemas.microsoft.com/office/drawing/2014/main" id="{A61D0227-4655-4A44-B1E8-42F7ACA37D7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897298" y="5278584"/>
            <a:ext cx="2286000" cy="10179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745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spc="-50" baseline="0">
          <a:solidFill>
            <a:srgbClr val="2D2C6C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2000" cy="9144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51960"/>
            <a:ext cx="12192000" cy="9144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343400"/>
            <a:ext cx="12192000" cy="9144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Understanding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0" i="0">
                <a:solidFill>
                  <a:srgbClr val="FFFFFF"/>
                </a:solidFill>
                <a:latin typeface="Open Sans"/>
              </a:rPr>
              <a:t>the 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1054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28C4CC"/>
                </a:solidFill>
                <a:latin typeface="Open Sans"/>
              </a:rPr>
              <a:t>Module 2  —  The Brain-Based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681728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Brain-Based Mental Health Training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The Florida Center for Early Childhood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>
                <a:solidFill>
                  <a:srgbClr val="D9E0E6"/>
                </a:solidFill>
                <a:latin typeface="Open Sans"/>
              </a:rPr>
              <a:t>Presented by Tamra Cajo, LCSW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4800600"/>
            <a:ext cx="26974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029200"/>
            <a:ext cx="2240280" cy="989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Two Ways to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5355336" cy="3108960"/>
          </a:xfrm>
          <a:prstGeom prst="round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" y="2029968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49424"/>
            <a:ext cx="48066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Brain-Based Informed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83280"/>
            <a:ext cx="480669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Open Sans"/>
              </a:rPr>
              <a:t>The foundation. You understand how the brain shapes behavior, learning, and emotion — and you're beginning to apply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9736" y="1645920"/>
            <a:ext cx="5355336" cy="3108960"/>
          </a:xfrm>
          <a:prstGeom prst="round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62344" y="2029968"/>
            <a:ext cx="64008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4056" y="2249424"/>
            <a:ext cx="48066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Brain-Based Responsive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4056" y="3383280"/>
            <a:ext cx="480669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Open Sans"/>
              </a:rPr>
              <a:t>The next level. You read the moment and adapt in real time — pacing, environment, and approach shift with the person.</a:t>
            </a:r>
          </a:p>
        </p:txBody>
      </p:sp>
      <p:pic>
        <p:nvPicPr>
          <p:cNvPr id="15" name="Picture 14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What the Lens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91440" cy="173736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3362960" cy="173736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6479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Brain &amp; 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76856"/>
            <a:ext cx="297891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How brain development and neuroplasticity shape what we see.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800" y="1600200"/>
            <a:ext cx="91440" cy="1737360"/>
          </a:xfrm>
          <a:prstGeom prst="rect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0240" y="1600200"/>
            <a:ext cx="3362960" cy="173736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1408" y="176479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Trauma + the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1408" y="2276856"/>
            <a:ext cx="297891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How trauma changes regulation, memory, and stress response.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0672" y="1600200"/>
            <a:ext cx="91440" cy="1737360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62112" y="1600200"/>
            <a:ext cx="3362960" cy="173736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3280" y="176479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Prenatal Alcohol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3280" y="2276856"/>
            <a:ext cx="297891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How PAE affects the brain — across every 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593591"/>
            <a:ext cx="91440" cy="1737360"/>
          </a:xfrm>
          <a:prstGeom prst="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593591"/>
            <a:ext cx="3362960" cy="173736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758183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Cause &amp; Effect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70248"/>
            <a:ext cx="297891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Why abstract thinking and consequences work differently.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8800" y="3593591"/>
            <a:ext cx="91440" cy="173736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60240" y="3593591"/>
            <a:ext cx="3362960" cy="173736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1408" y="3758183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Client 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1408" y="4270248"/>
            <a:ext cx="297891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Explaining the brain in ways that reduce shame.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0672" y="3593591"/>
            <a:ext cx="91440" cy="173736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62112" y="3593591"/>
            <a:ext cx="3362960" cy="173736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3280" y="3758183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Case Conceptualization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3280" y="4270248"/>
            <a:ext cx="297891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73D"/>
                </a:solidFill>
                <a:latin typeface="Open Sans"/>
              </a:rPr>
              <a:t>Weaving brain-based factors into the whole plan.</a:t>
            </a:r>
          </a:p>
        </p:txBody>
      </p:sp>
      <p:pic>
        <p:nvPicPr>
          <p:cNvPr id="31" name="Picture 30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Trauma + the Brain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091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Trauma reshapes the brain areas that handle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emotion, memory, stress, and self-control.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0720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70662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Window of tolerance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each person has a zone where they can think and connect.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4728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334670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Safety first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the brain scans for safety or threat before anything else.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8736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98678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Bottom-up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calm the body and build regulation before the thinking work.</a:t>
            </a:r>
          </a:p>
        </p:txBody>
      </p:sp>
      <p:pic>
        <p:nvPicPr>
          <p:cNvPr id="14" name="Picture 13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Prenatal Alcohol Exposure (PAE)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1091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PAE creates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organic brain differences</a:t>
            </a:r>
            <a:r>
              <a:rPr sz="2200" b="0" i="0">
                <a:solidFill>
                  <a:srgbClr val="33373D"/>
                </a:solidFill>
                <a:latin typeface="Open Sans"/>
              </a:rPr>
              <a:t> — in self-regulation, memory, focus, and social skills.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0720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70662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Screen at every age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many people are never diagnosed.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4728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334670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A negative screen isn't a clear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it doesn't rule FASD out.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8736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98678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Build accommodations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and bring the support system into treatment.</a:t>
            </a:r>
          </a:p>
        </p:txBody>
      </p:sp>
      <p:pic>
        <p:nvPicPr>
          <p:cNvPr id="14" name="Picture 13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Cause &amp; Effect Works Differently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091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Brain differences can make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cause-and-effect reasoning</a:t>
            </a:r>
            <a:r>
              <a:rPr sz="2200" b="0" i="0">
                <a:solidFill>
                  <a:srgbClr val="33373D"/>
                </a:solidFill>
                <a:latin typeface="Open Sans"/>
              </a:rPr>
              <a:t> genuinely hard.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07208"/>
            <a:ext cx="219456" cy="219456"/>
          </a:xfrm>
          <a:prstGeom prst="ellipse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70662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Delayed consequences often don't land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the connection isn't made.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47288"/>
            <a:ext cx="219456" cy="219456"/>
          </a:xfrm>
          <a:prstGeom prst="ellipse">
            <a:avLst/>
          </a:prstGeom>
          <a:solidFill>
            <a:srgbClr val="42B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334670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Keep it immediate and concrete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and teach the link out loud.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87368"/>
            <a:ext cx="219456" cy="219456"/>
          </a:xfrm>
          <a:prstGeom prst="ellipse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986784"/>
            <a:ext cx="106192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344068"/>
                </a:solidFill>
                <a:latin typeface="Open Sans"/>
              </a:rPr>
              <a:t>Meet the brain where it is  </a:t>
            </a:r>
            <a:r>
              <a:rPr sz="1700" b="0" i="0">
                <a:solidFill>
                  <a:srgbClr val="33373D"/>
                </a:solidFill>
                <a:latin typeface="Open Sans"/>
              </a:rPr>
              <a:t>adjust to their capacity in the moment.</a:t>
            </a:r>
          </a:p>
        </p:txBody>
      </p:sp>
      <p:pic>
        <p:nvPicPr>
          <p:cNvPr id="14" name="Picture 13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Words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091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33373D"/>
                </a:solidFill>
                <a:latin typeface="Open Sans"/>
              </a:rPr>
              <a:t>The </a:t>
            </a:r>
            <a:r>
              <a:rPr sz="2200" b="1" i="0">
                <a:solidFill>
                  <a:srgbClr val="1482AB"/>
                </a:solidFill>
                <a:latin typeface="Open Sans"/>
              </a:rPr>
              <a:t>Language &amp; Stigma Guide</a:t>
            </a:r>
            <a:r>
              <a:rPr sz="2200" b="0" i="0">
                <a:solidFill>
                  <a:srgbClr val="33373D"/>
                </a:solidFill>
                <a:latin typeface="Open Sans"/>
              </a:rPr>
              <a:t> is required reading before you see clients.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43200"/>
            <a:ext cx="10911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33373D"/>
                </a:solidFill>
                <a:latin typeface="Open Sans"/>
              </a:rPr>
              <a:t>The words we choose can add shame — or take it away. Brain-based language describes what's happening in the brain instead of blaming the person for it.</a:t>
            </a:r>
          </a:p>
        </p:txBody>
      </p:sp>
      <p:pic>
        <p:nvPicPr>
          <p:cNvPr id="9" name="Picture 8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88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54864" cy="6858000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9906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44068"/>
                </a:solidFill>
                <a:latin typeface="Open Sans"/>
              </a:rPr>
              <a:t>Your Required 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25296"/>
            <a:ext cx="1371600" cy="54864"/>
          </a:xfrm>
          <a:prstGeom prst="rect">
            <a:avLst/>
          </a:prstGeom>
          <a:solidFill>
            <a:srgbClr val="2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91440" cy="2103120"/>
          </a:xfrm>
          <a:prstGeom prst="rect">
            <a:avLst/>
          </a:prstGeom>
          <a:solidFill>
            <a:srgbClr val="14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362960" cy="21031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0195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Screening for Prenatal Alcohol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14015"/>
            <a:ext cx="2978912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Zoom recording  ·  passcode SCREEN#02242025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800" y="1737360"/>
            <a:ext cx="91440" cy="2103120"/>
          </a:xfrm>
          <a:prstGeom prst="rect">
            <a:avLst/>
          </a:prstGeom>
          <a:solidFill>
            <a:srgbClr val="3E8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0240" y="1737360"/>
            <a:ext cx="3362960" cy="21031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1408" y="190195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MH Through a Brain-Based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1408" y="2414015"/>
            <a:ext cx="2978912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Zoom recording  ·  passcode TFCMENTALHEALTH#2025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0672" y="1737360"/>
            <a:ext cx="91440" cy="2103120"/>
          </a:xfrm>
          <a:prstGeom prst="rect">
            <a:avLst/>
          </a:prstGeom>
          <a:solidFill>
            <a:srgbClr val="62A3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62112" y="1737360"/>
            <a:ext cx="3362960" cy="2103120"/>
          </a:xfrm>
          <a:prstGeom prst="roundRect">
            <a:avLst/>
          </a:prstGeom>
          <a:solidFill>
            <a:srgbClr val="D9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3280" y="1901952"/>
            <a:ext cx="29789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4068"/>
                </a:solidFill>
                <a:latin typeface="Open Sans"/>
              </a:rPr>
              <a:t>Baseline Self-Assessment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3280" y="2414015"/>
            <a:ext cx="2978912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73D"/>
                </a:solidFill>
                <a:latin typeface="Open Sans"/>
              </a:rPr>
              <a:t>Complete the 50-item tool BEFORE you watch — you'll re-take it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206240"/>
            <a:ext cx="1091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2A39F"/>
                </a:solidFill>
                <a:latin typeface="Open Sans"/>
              </a:rPr>
              <a:t>Watch these first — the live sessions build on them.</a:t>
            </a:r>
          </a:p>
        </p:txBody>
      </p:sp>
      <p:pic>
        <p:nvPicPr>
          <p:cNvPr id="20" name="Picture 19" descr="logo no 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480" y="6016752"/>
            <a:ext cx="1554480" cy="6863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2_Retrospect">
  <a:themeElements>
    <a:clrScheme name="New Presentatio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482AB"/>
      </a:accent1>
      <a:accent2>
        <a:srgbClr val="305250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4551</TotalTime>
  <Words>661</Words>
  <Application>Microsoft Office PowerPoint</Application>
  <PresentationFormat>Widescreen</PresentationFormat>
  <Paragraphs>127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Arvo</vt:lpstr>
      <vt:lpstr>Calibri</vt:lpstr>
      <vt:lpstr>Freestyle Script</vt:lpstr>
      <vt:lpstr>Open Sans</vt:lpstr>
      <vt:lpstr>Trebuchet MS</vt:lpstr>
      <vt:lpstr>Wingdings 3</vt:lpstr>
      <vt:lpstr>1_Retrospect</vt:lpstr>
      <vt:lpstr>2_Retrospect</vt:lpstr>
      <vt:lpstr>PowerPoint Presentation</vt:lpstr>
      <vt:lpstr>Please Get Comfortable</vt:lpstr>
      <vt:lpstr>Today We Will Learn:</vt:lpstr>
      <vt:lpstr>What Is Compliance?</vt:lpstr>
      <vt:lpstr>What Is Capacity?</vt:lpstr>
      <vt:lpstr>Why This Matters</vt:lpstr>
      <vt:lpstr>The Common Misinterpretation</vt:lpstr>
      <vt:lpstr>Capacity vs. Compliance</vt:lpstr>
      <vt:lpstr>Dependency &amp; Child Welfare Systems</vt:lpstr>
      <vt:lpstr>Early Childhood Court Considerations</vt:lpstr>
      <vt:lpstr>Criminal Justice Applications</vt:lpstr>
      <vt:lpstr>Warning Signs of Capacity Challenges</vt:lpstr>
      <vt:lpstr>Building Capacity</vt:lpstr>
      <vt:lpstr>System Shift: From Compliance to Capacity</vt:lpstr>
      <vt:lpstr>Case Example Discussion</vt:lpstr>
      <vt:lpstr>Key Takeaways</vt:lpstr>
      <vt:lpstr>Any Questions?</vt:lpstr>
      <vt:lpstr>Contact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Tamra Cajo</dc:creator>
  <cp:lastModifiedBy>Tamra Cajo</cp:lastModifiedBy>
  <cp:revision>124</cp:revision>
  <dcterms:created xsi:type="dcterms:W3CDTF">2026-05-08T18:38:00Z</dcterms:created>
  <dcterms:modified xsi:type="dcterms:W3CDTF">2026-06-09T11:57:49Z</dcterms:modified>
</cp:coreProperties>
</file>