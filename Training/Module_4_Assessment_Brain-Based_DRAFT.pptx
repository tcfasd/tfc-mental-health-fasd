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1" r:id="rId2"/>
  </p:sldMasterIdLst>
  <p:notesMasterIdLst>
    <p:notesMasterId r:id="rId21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99"/>
    <a:srgbClr val="0886A0"/>
    <a:srgbClr val="0BB2D5"/>
    <a:srgbClr val="0A546A"/>
    <a:srgbClr val="5B4EC7"/>
    <a:srgbClr val="687DE0"/>
    <a:srgbClr val="014B43"/>
    <a:srgbClr val="2977B7"/>
    <a:srgbClr val="53A2B5"/>
    <a:srgbClr val="FC9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261" autoAdjust="0"/>
  </p:normalViewPr>
  <p:slideViewPr>
    <p:cSldViewPr snapToGrid="0">
      <p:cViewPr varScale="1">
        <p:scale>
          <a:sx n="115" d="100"/>
          <a:sy n="115" d="100"/>
        </p:scale>
        <p:origin x="418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23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94D495-273D-46E3-8952-8C68E204F3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8B589-D696-468B-93B7-AE3B06BB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0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400" cap="all" spc="-50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rgbClr val="009799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9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 cap="none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76214"/>
            <a:ext cx="10058400" cy="402336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16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4400" b="0" cap="none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448360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none" spc="200" baseline="0">
                <a:solidFill>
                  <a:srgbClr val="009799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65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>
            <a:lvl1pPr>
              <a:defRPr sz="44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>
            <a:lvl1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983F6F6B-43EE-47B5-B5A0-550CE76AFDD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7497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>
            <a:lvl1pPr>
              <a:defRPr sz="4400" cap="all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06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11F6657-4DEC-422E-96BC-1FC3817F137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602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2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1A68A121-632D-4FD0-8041-D8A0931562E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5321389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419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1A68A121-632D-4FD0-8041-D8A0931562E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951427" y="5353370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628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6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327380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6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90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3160" y="4921113"/>
            <a:ext cx="12188825" cy="19050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54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40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76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3 columns slide">
  <p:cSld name="Title &amp; 3 columns sli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-15800" y="1236100"/>
            <a:ext cx="12192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2"/>
          </p:nvPr>
        </p:nvSpPr>
        <p:spPr>
          <a:xfrm>
            <a:off x="14738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4738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 idx="3"/>
          </p:nvPr>
        </p:nvSpPr>
        <p:spPr>
          <a:xfrm>
            <a:off x="46870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"/>
          </p:nvPr>
        </p:nvSpPr>
        <p:spPr>
          <a:xfrm>
            <a:off x="46870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ctrTitle" idx="5"/>
          </p:nvPr>
        </p:nvSpPr>
        <p:spPr>
          <a:xfrm>
            <a:off x="79002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6"/>
          </p:nvPr>
        </p:nvSpPr>
        <p:spPr>
          <a:xfrm>
            <a:off x="79002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0E847903-2F5A-45D3-8F07-D405AAD8EA4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6174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7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0" i="0"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67"/>
          <p:cNvSpPr txBox="1">
            <a:spLocks noGrp="1"/>
          </p:cNvSpPr>
          <p:nvPr>
            <p:ph type="body" idx="1"/>
          </p:nvPr>
        </p:nvSpPr>
        <p:spPr>
          <a:xfrm>
            <a:off x="1383833" y="1805264"/>
            <a:ext cx="94244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spcBef>
                <a:spcPts val="800"/>
              </a:spcBef>
              <a:spcAft>
                <a:spcPts val="0"/>
              </a:spcAft>
              <a:buClr>
                <a:srgbClr val="009799"/>
              </a:buClr>
              <a:buSzPts val="2400"/>
              <a:buChar char="●"/>
              <a:defRPr b="0" i="0"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 dirty="0"/>
          </a:p>
        </p:txBody>
      </p:sp>
      <p:sp>
        <p:nvSpPr>
          <p:cNvPr id="79" name="Google Shape;79;p67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95F995B-915C-45E9-890D-46F36D6CEE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88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FEC609ED-C234-434C-9336-4107E4E400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4825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9F5720-33C4-4F82-905F-852062826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0928" y="1179829"/>
            <a:ext cx="6311555" cy="4658216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2ABF2-A144-4733-9C41-9F71D25E8116}"/>
              </a:ext>
            </a:extLst>
          </p:cNvPr>
          <p:cNvSpPr>
            <a:spLocks noChangeAspect="1"/>
          </p:cNvSpPr>
          <p:nvPr userDrawn="1"/>
        </p:nvSpPr>
        <p:spPr>
          <a:xfrm>
            <a:off x="442421" y="521263"/>
            <a:ext cx="3682723" cy="57924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AE0941-A3BC-4273-8CFC-35758DD9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t" anchorCtr="0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86B1363-9C99-4D6B-B19F-1696ACCCD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52A4DF-BE01-429D-BF75-4D8987242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BD7A-E6C1-49E4-B644-7DEE137733B8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F8A4E03-EE12-494D-8257-0589CD6E7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9DD57C-84A3-4E13-A3AB-862F6007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2624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83767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404831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0" i="0"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6884512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31124-CBE6-4E80-9B8A-5E64C225F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292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30520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0815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600" y="2893422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597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theme" Target="../theme/theme2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19801"/>
            <a:ext cx="12188825" cy="13998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solidFill>
            <a:srgbClr val="2D2C6C"/>
          </a:solidFill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A61D0227-4655-4A44-B1E8-42F7ACA37D77}"/>
              </a:ext>
            </a:extLst>
          </p:cNvPr>
          <p:cNvPicPr preferRelativeResize="0"/>
          <p:nvPr userDrawn="1"/>
        </p:nvPicPr>
        <p:blipFill rotWithShape="1">
          <a:blip r:embed="rId22">
            <a:alphaModFix/>
          </a:blip>
          <a:srcRect/>
          <a:stretch/>
        </p:blipFill>
        <p:spPr>
          <a:xfrm>
            <a:off x="9897298" y="5278584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762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spc="-50" baseline="0">
          <a:solidFill>
            <a:srgbClr val="2D2C6C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296521"/>
            <a:ext cx="12188825" cy="561479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solidFill>
            <a:srgbClr val="2D2C6C"/>
          </a:solidFill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A61D0227-4655-4A44-B1E8-42F7ACA37D7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9897298" y="5278584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745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spc="-50" baseline="0">
          <a:solidFill>
            <a:srgbClr val="2D2C6C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2000" cy="9144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51960"/>
            <a:ext cx="12192000" cy="91440"/>
          </a:xfrm>
          <a:prstGeom prst="rect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343400"/>
            <a:ext cx="12192000" cy="9144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 i="0">
                <a:solidFill>
                  <a:srgbClr val="FFFFFF"/>
                </a:solidFill>
                <a:latin typeface="Open Sans"/>
              </a:rPr>
              <a:t>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00400"/>
            <a:ext cx="1054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28C4CC"/>
                </a:solidFill>
                <a:latin typeface="Open Sans"/>
              </a:rPr>
              <a:t>Module 4  —  Through a Brain-Based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681728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Brain-Based Mental Health Training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The Florida Center for Early Childhood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Presented by Tamra Cajo, LCSW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4800600"/>
            <a:ext cx="26974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029200"/>
            <a:ext cx="2240280" cy="989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Why Assess Brain Function?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091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33373D"/>
                </a:solidFill>
                <a:latin typeface="Open Sans"/>
              </a:rPr>
              <a:t>Traditional mental-health assessments often </a:t>
            </a:r>
            <a:r>
              <a:rPr sz="2200" b="1" i="0">
                <a:solidFill>
                  <a:srgbClr val="1482AB"/>
                </a:solidFill>
                <a:latin typeface="Open Sans"/>
              </a:rPr>
              <a:t>miss the brain-based challenges</a:t>
            </a:r>
            <a:r>
              <a:rPr sz="2200" b="0" i="0">
                <a:solidFill>
                  <a:srgbClr val="33373D"/>
                </a:solidFill>
                <a:latin typeface="Open Sans"/>
              </a:rPr>
              <a:t> driving behavior and emotion.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43200"/>
            <a:ext cx="1091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33373D"/>
                </a:solidFill>
                <a:latin typeface="Open Sans"/>
              </a:rPr>
              <a:t>Get the fuller picture — pull in what others already know: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538727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3474720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373D"/>
                </a:solidFill>
                <a:latin typeface="Open Sans"/>
              </a:rPr>
              <a:t>Neuropsychological evaluations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178808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4114800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373D"/>
                </a:solidFill>
                <a:latin typeface="Open Sans"/>
              </a:rPr>
              <a:t>Occupational &amp; speech-language evals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818888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7" y="4754879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373D"/>
                </a:solidFill>
                <a:latin typeface="Open Sans"/>
              </a:rPr>
              <a:t>School reports and IEPs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458968"/>
            <a:ext cx="219456" cy="219456"/>
          </a:xfrm>
          <a:prstGeom prst="ellipse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7" y="5394959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373D"/>
                </a:solidFill>
                <a:latin typeface="Open Sans"/>
              </a:rPr>
              <a:t>Medical and medication history</a:t>
            </a:r>
          </a:p>
        </p:txBody>
      </p:sp>
      <p:pic>
        <p:nvPicPr>
          <p:cNvPr id="17" name="Picture 16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Before the First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091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33373D"/>
                </a:solidFill>
                <a:latin typeface="Open Sans"/>
              </a:rPr>
              <a:t>Gather what exists and listen to the story — including </a:t>
            </a:r>
            <a:r>
              <a:rPr sz="2200" b="1" i="0">
                <a:solidFill>
                  <a:srgbClr val="1482AB"/>
                </a:solidFill>
                <a:latin typeface="Open Sans"/>
              </a:rPr>
              <a:t>prenatal and birth history.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07208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2706624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Request records early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prior evals, IEPs, medical history.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47288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7" y="3346704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Screen for PAE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ask with stigma-reducing language.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87368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986784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Note strengths too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not just the challenges.</a:t>
            </a:r>
          </a:p>
        </p:txBody>
      </p:sp>
      <p:pic>
        <p:nvPicPr>
          <p:cNvPr id="14" name="Picture 13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Which Assessment?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91440" cy="155448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3362960" cy="155448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5623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68296"/>
            <a:ext cx="29789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73D"/>
                </a:solidFill>
                <a:latin typeface="Open Sans"/>
              </a:rPr>
              <a:t>Children 0–5 (In-Depth Assessment).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800" y="1691640"/>
            <a:ext cx="91440" cy="1554480"/>
          </a:xfrm>
          <a:prstGeom prst="rect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0240" y="1691640"/>
            <a:ext cx="3362960" cy="155448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1408" y="185623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BPS — Child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1408" y="2368296"/>
            <a:ext cx="29789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73D"/>
                </a:solidFill>
                <a:latin typeface="Open Sans"/>
              </a:rPr>
              <a:t>Children 6–18 (Biopsychosocial).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0672" y="1691640"/>
            <a:ext cx="91440" cy="1554480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62112" y="1691640"/>
            <a:ext cx="3362960" cy="155448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3280" y="185623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BPS — Adult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3280" y="2368296"/>
            <a:ext cx="29789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73D"/>
                </a:solidFill>
                <a:latin typeface="Open Sans"/>
              </a:rPr>
              <a:t>Adult clients.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611880"/>
            <a:ext cx="1091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373D"/>
                </a:solidFill>
                <a:latin typeface="Open Sans"/>
              </a:rPr>
              <a:t>Shortcut: an </a:t>
            </a:r>
            <a:r>
              <a:rPr sz="1900" b="1" i="0">
                <a:solidFill>
                  <a:srgbClr val="1482AB"/>
                </a:solidFill>
                <a:latin typeface="Open Sans"/>
              </a:rPr>
              <a:t>FASD evaluation within the last 6 months</a:t>
            </a:r>
            <a:r>
              <a:rPr sz="1900" b="0" i="0">
                <a:solidFill>
                  <a:srgbClr val="33373D"/>
                </a:solidFill>
                <a:latin typeface="Open Sans"/>
              </a:rPr>
              <a:t> can stand in for the BPS — go straight to the Treatment Plan. Older than 6 months? A BPS or IDA is needed first.</a:t>
            </a:r>
          </a:p>
        </p:txBody>
      </p:sp>
      <p:pic>
        <p:nvPicPr>
          <p:cNvPr id="20" name="Picture 19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Required at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01368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7" y="1700784"/>
            <a:ext cx="106192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Child present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the child must be there for the assessment.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78608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2478024"/>
            <a:ext cx="106192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Brief Status Exam (BSE)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by a licensed practitioner before the Treatment Plan.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55847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3255263"/>
            <a:ext cx="106192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CFARS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at start and quarterly (interns can't bill it).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33087"/>
            <a:ext cx="219456" cy="219456"/>
          </a:xfrm>
          <a:prstGeom prst="ellipse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7" y="4032503"/>
            <a:ext cx="106192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Outcome measures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baseline now, every 3 months, and at closing.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5029200"/>
            <a:ext cx="1036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62A39F"/>
                </a:solidFill>
                <a:latin typeface="Open Sans"/>
              </a:rPr>
              <a:t>Outcomes: Parenting Sense of Competency · Perceived Stress Scale · Neurobehavioral Screener (caregiver + child).</a:t>
            </a:r>
          </a:p>
        </p:txBody>
      </p:sp>
      <p:pic>
        <p:nvPicPr>
          <p:cNvPr id="16" name="Picture 15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When There's No Neuropsych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091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33373D"/>
                </a:solidFill>
                <a:latin typeface="Open Sans"/>
              </a:rPr>
              <a:t>No formal evaluation? You can still </a:t>
            </a:r>
            <a:r>
              <a:rPr sz="2200" b="1" i="0">
                <a:solidFill>
                  <a:srgbClr val="1482AB"/>
                </a:solidFill>
                <a:latin typeface="Open Sans"/>
              </a:rPr>
              <a:t>read the brain informally.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743200"/>
            <a:ext cx="5355336" cy="2286000"/>
          </a:xfrm>
          <a:prstGeom prst="round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9536" y="3127248"/>
            <a:ext cx="640080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346704"/>
            <a:ext cx="48066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Open Sans"/>
              </a:rPr>
              <a:t>Ability Wheel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480560"/>
            <a:ext cx="48066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Open Sans"/>
              </a:rPr>
              <a:t>Vanessa Spiller's simple tool for cognitive and functional skills.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9736" y="2743200"/>
            <a:ext cx="5355336" cy="2286000"/>
          </a:xfrm>
          <a:prstGeom prst="round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62344" y="3127248"/>
            <a:ext cx="640080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4056" y="3346704"/>
            <a:ext cx="48066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Open Sans"/>
              </a:rPr>
              <a:t>FASCETS Exploration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4056" y="4480560"/>
            <a:ext cx="48066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Open Sans"/>
              </a:rPr>
              <a:t>A structured neurobehavioral tool — requires FASCETS training.</a:t>
            </a:r>
          </a:p>
        </p:txBody>
      </p:sp>
      <p:pic>
        <p:nvPicPr>
          <p:cNvPr id="16" name="Picture 15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Map the Brain by Domain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91440" cy="141732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645920"/>
            <a:ext cx="3362960" cy="141732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1051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22576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Children's Memory Scale · NEPSY-II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800" y="1645920"/>
            <a:ext cx="91440" cy="1417320"/>
          </a:xfrm>
          <a:prstGeom prst="rect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0240" y="1645920"/>
            <a:ext cx="3362960" cy="141732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1408" y="181051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1408" y="2322576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Bayley · Vineland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0672" y="1645920"/>
            <a:ext cx="91440" cy="1417320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62112" y="1645920"/>
            <a:ext cx="3362960" cy="141732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3280" y="181051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Sensory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3280" y="2322576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Sensory 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319272"/>
            <a:ext cx="91440" cy="1417320"/>
          </a:xfrm>
          <a:prstGeom prst="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319272"/>
            <a:ext cx="3362960" cy="141732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483864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Processing / IQ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995928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WISC · WAIS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8800" y="3319272"/>
            <a:ext cx="91440" cy="141732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60240" y="3319272"/>
            <a:ext cx="3362960" cy="141732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1408" y="3483864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Speech &amp; Language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1408" y="3995928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CASL-2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0672" y="3319272"/>
            <a:ext cx="91440" cy="141732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62112" y="3319272"/>
            <a:ext cx="3362960" cy="141732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3280" y="3483864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Auditory Processing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3280" y="3995928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SCAN</a:t>
            </a:r>
          </a:p>
        </p:txBody>
      </p:sp>
      <p:pic>
        <p:nvPicPr>
          <p:cNvPr id="31" name="Picture 30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Connect the Dots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4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344068"/>
                </a:solidFill>
                <a:latin typeface="Open Sans"/>
              </a:rPr>
              <a:t>Report  →  Behavior  →  Accommodation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468880"/>
            <a:ext cx="5791200" cy="45720"/>
          </a:xfrm>
          <a:prstGeom prst="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017520"/>
            <a:ext cx="1091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33373D"/>
                </a:solidFill>
                <a:latin typeface="Open Sans"/>
              </a:rPr>
              <a:t>And don't stop at the child — also assess: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813048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7" y="3749039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373D"/>
                </a:solidFill>
                <a:latin typeface="Open Sans"/>
              </a:rPr>
              <a:t>The caregiver's learning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453128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4389120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373D"/>
                </a:solidFill>
                <a:latin typeface="Open Sans"/>
              </a:rPr>
              <a:t>Stress in the everyday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93208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7" y="5029200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373D"/>
                </a:solidFill>
                <a:latin typeface="Open Sans"/>
              </a:rPr>
              <a:t>Resources for the client and their supports</a:t>
            </a:r>
          </a:p>
        </p:txBody>
      </p:sp>
      <p:pic>
        <p:nvPicPr>
          <p:cNvPr id="16" name="Picture 15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New Presentatio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482AB"/>
      </a:accent1>
      <a:accent2>
        <a:srgbClr val="305250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2_Retrospect">
  <a:themeElements>
    <a:clrScheme name="New Presentatio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482AB"/>
      </a:accent1>
      <a:accent2>
        <a:srgbClr val="305250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4551</TotalTime>
  <Words>661</Words>
  <Application>Microsoft Office PowerPoint</Application>
  <PresentationFormat>Widescreen</PresentationFormat>
  <Paragraphs>127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</vt:lpstr>
      <vt:lpstr>Arial</vt:lpstr>
      <vt:lpstr>Arvo</vt:lpstr>
      <vt:lpstr>Calibri</vt:lpstr>
      <vt:lpstr>Freestyle Script</vt:lpstr>
      <vt:lpstr>Open Sans</vt:lpstr>
      <vt:lpstr>Trebuchet MS</vt:lpstr>
      <vt:lpstr>Wingdings 3</vt:lpstr>
      <vt:lpstr>1_Retrospect</vt:lpstr>
      <vt:lpstr>2_Retrospect</vt:lpstr>
      <vt:lpstr>PowerPoint Presentation</vt:lpstr>
      <vt:lpstr>Please Get Comfortable</vt:lpstr>
      <vt:lpstr>Today We Will Learn:</vt:lpstr>
      <vt:lpstr>What Is Compliance?</vt:lpstr>
      <vt:lpstr>What Is Capacity?</vt:lpstr>
      <vt:lpstr>Why This Matters</vt:lpstr>
      <vt:lpstr>The Common Misinterpretation</vt:lpstr>
      <vt:lpstr>Capacity vs. Compliance</vt:lpstr>
      <vt:lpstr>Dependency &amp; Child Welfare Systems</vt:lpstr>
      <vt:lpstr>Early Childhood Court Considerations</vt:lpstr>
      <vt:lpstr>Criminal Justice Applications</vt:lpstr>
      <vt:lpstr>Warning Signs of Capacity Challenges</vt:lpstr>
      <vt:lpstr>Building Capacity</vt:lpstr>
      <vt:lpstr>System Shift: From Compliance to Capacity</vt:lpstr>
      <vt:lpstr>Case Example Discussion</vt:lpstr>
      <vt:lpstr>Key Takeaways</vt:lpstr>
      <vt:lpstr>Any Questions?</vt:lpstr>
      <vt:lpstr>Contact Us!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Tamra Cajo</dc:creator>
  <cp:lastModifiedBy>Tamra Cajo</cp:lastModifiedBy>
  <cp:revision>124</cp:revision>
  <dcterms:created xsi:type="dcterms:W3CDTF">2026-05-08T18:38:00Z</dcterms:created>
  <dcterms:modified xsi:type="dcterms:W3CDTF">2026-06-09T11:57:49Z</dcterms:modified>
</cp:coreProperties>
</file>