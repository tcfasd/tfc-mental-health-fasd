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99"/>
    <a:srgbClr val="0886A0"/>
    <a:srgbClr val="0BB2D5"/>
    <a:srgbClr val="0A546A"/>
    <a:srgbClr val="5B4EC7"/>
    <a:srgbClr val="687DE0"/>
    <a:srgbClr val="014B43"/>
    <a:srgbClr val="2977B7"/>
    <a:srgbClr val="53A2B5"/>
    <a:srgbClr val="FC9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261" autoAdjust="0"/>
  </p:normalViewPr>
  <p:slideViewPr>
    <p:cSldViewPr snapToGrid="0">
      <p:cViewPr varScale="1">
        <p:scale>
          <a:sx n="115" d="100"/>
          <a:sy n="115" d="100"/>
        </p:scale>
        <p:origin x="41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4D495-273D-46E3-8952-8C68E204F3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8B589-D696-468B-93B7-AE3B06BB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400" cap="all" spc="-50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214"/>
            <a:ext cx="10058400" cy="40233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400" b="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8360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49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 cap="all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02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21389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19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51427" y="5353370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28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27380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54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174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Clr>
                <a:srgbClr val="009799"/>
              </a:buClr>
              <a:buSzPts val="2400"/>
              <a:buChar char="●"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88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48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311555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2421" y="521263"/>
            <a:ext cx="3682723" cy="57924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62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88451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292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0520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815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893422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59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19801"/>
            <a:ext cx="12188825" cy="1399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62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296521"/>
            <a:ext cx="12188825" cy="561479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45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2000" cy="914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92000" cy="9144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43400"/>
            <a:ext cx="12192000" cy="9144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Billing &amp;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Productivity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54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28C4CC"/>
                </a:solidFill>
                <a:latin typeface="Open Sans"/>
              </a:rPr>
              <a:t>Module 8  —  The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Brain-Based Mental Health Training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The Florida Center for Early Childhood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Presented by Tamra Cajo, LCSW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800600"/>
            <a:ext cx="2697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029200"/>
            <a:ext cx="2240280" cy="98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The Billing Absolutes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01368"/>
            <a:ext cx="999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33373D"/>
                </a:solidFill>
                <a:latin typeface="Open Sans"/>
              </a:rPr>
              <a:t>No client is seen until consents are signed.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999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33373D"/>
                </a:solidFill>
                <a:latin typeface="Open Sans"/>
              </a:rPr>
              <a:t>The assessment is always billed first.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30168"/>
            <a:ext cx="999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33373D"/>
                </a:solidFill>
                <a:latin typeface="Open Sans"/>
              </a:rPr>
              <a:t>Treatment Plan within 10 calendar days — caregiver signs.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526280"/>
            <a:ext cx="548640" cy="548640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44568"/>
            <a:ext cx="999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33373D"/>
                </a:solidFill>
                <a:latin typeface="Open Sans"/>
              </a:rPr>
              <a:t>Track expiration dates — renew before you bill again.</a:t>
            </a:r>
          </a:p>
        </p:txBody>
      </p:sp>
      <p:pic>
        <p:nvPicPr>
          <p:cNvPr id="19" name="Picture 18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Service Codes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91440" cy="182880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5263896" cy="182880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56232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Assessments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68296"/>
            <a:ext cx="487984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PSY / BPS · IDA · CFARS — billed per event.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9736" y="1691640"/>
            <a:ext cx="91440" cy="182880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1175" y="1691640"/>
            <a:ext cx="5263896" cy="182880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2344" y="1856232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Treatment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344" y="2368296"/>
            <a:ext cx="487984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H0032 — plus reviews, per event.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776472"/>
            <a:ext cx="91440" cy="182880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3776472"/>
            <a:ext cx="5263896" cy="182880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941064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Therapy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453128"/>
            <a:ext cx="487984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Individual, family, or group — billed in time units.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9736" y="3776472"/>
            <a:ext cx="91440" cy="1828800"/>
          </a:xfrm>
          <a:prstGeom prst="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1175" y="3776472"/>
            <a:ext cx="5263896" cy="182880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344" y="3941064"/>
            <a:ext cx="48798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Consult / CCM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344" y="4453128"/>
            <a:ext cx="487984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Phone &amp; collateral — not billable to insurance.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31920"/>
            <a:ext cx="1091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62A39F"/>
                </a:solidFill>
                <a:latin typeface="Open Sans"/>
              </a:rPr>
              <a:t>Always pull the client up in Lauris first — confirm insurance and the available code before you bill. Phone-only is never reimbursable.</a:t>
            </a:r>
          </a:p>
        </p:txBody>
      </p:sp>
      <p:pic>
        <p:nvPicPr>
          <p:cNvPr id="24" name="Picture 23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Who Can Bill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4708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746504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Child + caregiver present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no child in the room, no billable service.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88336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587752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Diagnosis is signed by a licensed clinician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others can collect the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429000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BPS vs. IDA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bachelor-level/interns can bill a BPS, not an IDA.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70832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270248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Hand-off matters  </a:t>
            </a:r>
            <a:r>
              <a:rPr sz="1600" b="0" i="0">
                <a:solidFill>
                  <a:srgbClr val="33373D"/>
                </a:solidFill>
                <a:latin typeface="Open Sans"/>
              </a:rPr>
              <a:t>a master's clinician completes the TP within 10 days.</a:t>
            </a:r>
          </a:p>
        </p:txBody>
      </p:sp>
      <p:pic>
        <p:nvPicPr>
          <p:cNvPr id="15" name="Picture 14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The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4708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1746504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Assessment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completed within 5 business days of the first visit.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88336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587752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Treatment Plan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within 10 calendar days of the assessment.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429000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Reviews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every 90 days keeps services going.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70832"/>
            <a:ext cx="219456" cy="219456"/>
          </a:xfrm>
          <a:prstGeom prst="ellipse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270248"/>
            <a:ext cx="106192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Diagnosis changes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only at a Review or Assessment.</a:t>
            </a:r>
          </a:p>
        </p:txBody>
      </p:sp>
      <p:pic>
        <p:nvPicPr>
          <p:cNvPr id="15" name="Picture 14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Child vs. Adult  &amp;  Interns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55336" cy="2377440"/>
          </a:xfrm>
          <a:prstGeom prst="round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" y="221284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32304"/>
            <a:ext cx="48066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Billing the child or adult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566160"/>
            <a:ext cx="4806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Open Sans"/>
              </a:rPr>
              <a:t>You can bill under either — if you bill the adult, keep the focus on parenting.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9736" y="1828800"/>
            <a:ext cx="5355336" cy="237744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2344" y="221284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4056" y="2432304"/>
            <a:ext cx="48066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Open Sans"/>
              </a:rPr>
              <a:t>Intern codes (the 'IN' suffix)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4056" y="3566160"/>
            <a:ext cx="48066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Open Sans"/>
              </a:rPr>
              <a:t>Non-billable, but the documentation standard is identical to a licensed clinician's.</a:t>
            </a:r>
          </a:p>
        </p:txBody>
      </p:sp>
      <p:pic>
        <p:nvPicPr>
          <p:cNvPr id="15" name="Picture 14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Productivity: the 75 /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46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1482AB"/>
                </a:solidFill>
                <a:latin typeface="Open Sans"/>
              </a:rPr>
              <a:t>75%</a:t>
            </a:r>
            <a:r>
              <a:rPr sz="2400" b="0" i="0">
                <a:solidFill>
                  <a:srgbClr val="344068"/>
                </a:solidFill>
                <a:latin typeface="Open Sans"/>
              </a:rPr>
              <a:t>  direct / billable      </a:t>
            </a:r>
            <a:r>
              <a:rPr sz="5400" b="1" i="0">
                <a:solidFill>
                  <a:srgbClr val="42BA97"/>
                </a:solidFill>
                <a:latin typeface="Open Sans"/>
              </a:rPr>
              <a:t>25%</a:t>
            </a:r>
            <a:r>
              <a:rPr sz="2400" b="0" i="0">
                <a:solidFill>
                  <a:srgbClr val="344068"/>
                </a:solidFill>
                <a:latin typeface="Open Sans"/>
              </a:rPr>
              <a:t>  admin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7296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3072384"/>
            <a:ext cx="1061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About 2 hours a day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is administrative time.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9592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895344"/>
            <a:ext cx="1061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Keep consultation small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around one hour a week.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81888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4718304"/>
            <a:ext cx="1061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Track it yourself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and raise caseload concerns early — supervisors won't guess.</a:t>
            </a:r>
          </a:p>
        </p:txBody>
      </p:sp>
      <p:pic>
        <p:nvPicPr>
          <p:cNvPr id="14" name="Picture 13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2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4551</TotalTime>
  <Words>661</Words>
  <Application>Microsoft Office PowerPoint</Application>
  <PresentationFormat>Widescreen</PresentationFormat>
  <Paragraphs>127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Arvo</vt:lpstr>
      <vt:lpstr>Calibri</vt:lpstr>
      <vt:lpstr>Freestyle Script</vt:lpstr>
      <vt:lpstr>Open Sans</vt:lpstr>
      <vt:lpstr>Trebuchet MS</vt:lpstr>
      <vt:lpstr>Wingdings 3</vt:lpstr>
      <vt:lpstr>1_Retrospect</vt:lpstr>
      <vt:lpstr>2_Retrospect</vt:lpstr>
      <vt:lpstr>PowerPoint Presentation</vt:lpstr>
      <vt:lpstr>Please Get Comfortable</vt:lpstr>
      <vt:lpstr>Today We Will Learn:</vt:lpstr>
      <vt:lpstr>What Is Compliance?</vt:lpstr>
      <vt:lpstr>What Is Capacity?</vt:lpstr>
      <vt:lpstr>Why This Matters</vt:lpstr>
      <vt:lpstr>The Common Misinterpretation</vt:lpstr>
      <vt:lpstr>Capacity vs. Compliance</vt:lpstr>
      <vt:lpstr>Dependency &amp; Child Welfare Systems</vt:lpstr>
      <vt:lpstr>Early Childhood Court Considerations</vt:lpstr>
      <vt:lpstr>Criminal Justice Applications</vt:lpstr>
      <vt:lpstr>Warning Signs of Capacity Challenges</vt:lpstr>
      <vt:lpstr>Building Capacity</vt:lpstr>
      <vt:lpstr>System Shift: From Compliance to Capacity</vt:lpstr>
      <vt:lpstr>Case Example Discussion</vt:lpstr>
      <vt:lpstr>Key Takeaways</vt:lpstr>
      <vt:lpstr>Any Questions?</vt:lpstr>
      <vt:lpstr>Contact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Tamra Cajo</dc:creator>
  <cp:lastModifiedBy>Tamra Cajo</cp:lastModifiedBy>
  <cp:revision>124</cp:revision>
  <dcterms:created xsi:type="dcterms:W3CDTF">2026-05-08T18:38:00Z</dcterms:created>
  <dcterms:modified xsi:type="dcterms:W3CDTF">2026-06-09T11:57:49Z</dcterms:modified>
</cp:coreProperties>
</file>