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99"/>
    <a:srgbClr val="0886A0"/>
    <a:srgbClr val="0BB2D5"/>
    <a:srgbClr val="0A546A"/>
    <a:srgbClr val="5B4EC7"/>
    <a:srgbClr val="687DE0"/>
    <a:srgbClr val="014B43"/>
    <a:srgbClr val="2977B7"/>
    <a:srgbClr val="53A2B5"/>
    <a:srgbClr val="FC9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261" autoAdjust="0"/>
  </p:normalViewPr>
  <p:slideViewPr>
    <p:cSldViewPr snapToGrid="0">
      <p:cViewPr varScale="1">
        <p:scale>
          <a:sx n="115" d="100"/>
          <a:sy n="115" d="100"/>
        </p:scale>
        <p:origin x="41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4D495-273D-46E3-8952-8C68E204F3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8B589-D696-468B-93B7-AE3B06BB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0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400" cap="all" spc="-50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6214"/>
            <a:ext cx="10058400" cy="40233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1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400" b="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8360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49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 cap="all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02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5321389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19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51427" y="5353370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628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27380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90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54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0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76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174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Clr>
                <a:srgbClr val="009799"/>
              </a:buClr>
              <a:buSzPts val="2400"/>
              <a:buChar char="●"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88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482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F5720-33C4-4F82-905F-85206282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28" y="1179829"/>
            <a:ext cx="6311555" cy="4658216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ABF2-A144-4733-9C41-9F71D25E8116}"/>
              </a:ext>
            </a:extLst>
          </p:cNvPr>
          <p:cNvSpPr>
            <a:spLocks noChangeAspect="1"/>
          </p:cNvSpPr>
          <p:nvPr userDrawn="1"/>
        </p:nvSpPr>
        <p:spPr>
          <a:xfrm>
            <a:off x="442421" y="521263"/>
            <a:ext cx="3682723" cy="57924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AE0941-A3BC-4273-8CFC-35758DD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t" anchorCtr="0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6B1363-9C99-4D6B-B19F-1696ACCC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52A4DF-BE01-429D-BF75-4D89872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BD7A-E6C1-49E4-B644-7DEE137733B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8A4E03-EE12-494D-8257-0589CD6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9DD57C-84A3-4E13-A3AB-862F6007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262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88451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292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0520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0815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893422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59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19801"/>
            <a:ext cx="12188825" cy="1399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762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296521"/>
            <a:ext cx="12188825" cy="561479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45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2000" cy="9144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92000" cy="9144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43400"/>
            <a:ext cx="12192000" cy="9144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4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Welcome to the FASD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Mental Health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1054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28C4CC"/>
                </a:solidFill>
                <a:latin typeface="Open Sans"/>
              </a:rPr>
              <a:t>Module 1  —  Why This Work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Brain-Based Mental Health Training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The Florida Center for Early Childhood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Presented by Tamra Cajo, LCSW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800600"/>
            <a:ext cx="26974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029200"/>
            <a:ext cx="2240280" cy="98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81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Welcome!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0911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You're joining the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FASD Mental Health Division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 at The Florida Center for Early Childhood.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373D"/>
                </a:solidFill>
                <a:latin typeface="Open San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We support children and families affected by FASD and other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brain-based (neurobehavioral) conditions.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373D"/>
                </a:solidFill>
                <a:latin typeface="Open San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Whether you're an intern, a new hire, or a licensed therapist — this training gives you what you need to start strong.</a:t>
            </a:r>
          </a:p>
        </p:txBody>
      </p:sp>
      <p:pic>
        <p:nvPicPr>
          <p:cNvPr id="8" name="Picture 7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0">
                <a:solidFill>
                  <a:srgbClr val="28C4CC"/>
                </a:solidFill>
                <a:latin typeface="Open Sans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72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FFFFFF"/>
                </a:solidFill>
                <a:latin typeface="Open Sans"/>
              </a:rPr>
              <a:t>“What looks like </a:t>
            </a:r>
            <a:r>
              <a:rPr sz="4000" b="1" i="1">
                <a:solidFill>
                  <a:srgbClr val="28C4CC"/>
                </a:solidFill>
                <a:latin typeface="Open Sans"/>
              </a:rPr>
              <a:t>won't</a:t>
            </a:r>
            <a:r>
              <a:rPr sz="4000" b="0" i="0">
                <a:solidFill>
                  <a:srgbClr val="FFFFFF"/>
                </a:solidFill>
                <a:latin typeface="Open Sans"/>
              </a:rPr>
              <a:t> is often </a:t>
            </a:r>
            <a:r>
              <a:rPr sz="4000" b="1" i="1">
                <a:solidFill>
                  <a:srgbClr val="42BA97"/>
                </a:solidFill>
                <a:latin typeface="Open Sans"/>
              </a:rPr>
              <a:t>can't.</a:t>
            </a:r>
            <a:r>
              <a:rPr sz="4000" b="0" i="0">
                <a:solidFill>
                  <a:srgbClr val="FFFFFF"/>
                </a:solidFill>
                <a:latin typeface="Open Sans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160520"/>
            <a:ext cx="1036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D9E0E6"/>
                </a:solidFill>
                <a:latin typeface="Open Sans"/>
              </a:rPr>
              <a:t>Behavior is brain-based. Memory, attention, processing speed, focus, and language all shape how a child shows up — it's not about willpower.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81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Why a Brain-Based Lens?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3520440" cy="3611880"/>
          </a:xfrm>
          <a:prstGeom prst="round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2057400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86000"/>
            <a:ext cx="29352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No diagnosis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29000"/>
            <a:ext cx="293522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Open Sans"/>
              </a:rPr>
              <a:t>You don't need a formal FASD diagnosis to help. The lens works for any brain-based difference.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520440" cy="3611880"/>
          </a:xfrm>
          <a:prstGeom prst="round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057400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286000"/>
            <a:ext cx="29352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From shame to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429000"/>
            <a:ext cx="293522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Open Sans"/>
              </a:rPr>
              <a:t>When families understand the brain, blame goes down — and symptoms often ease.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645920"/>
            <a:ext cx="3520440" cy="361188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22792" y="2057400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286000"/>
            <a:ext cx="29352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Build on strengths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429000"/>
            <a:ext cx="293522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Open Sans"/>
              </a:rPr>
              <a:t>Every brain is different. We personalize care and start from what's already strong.</a:t>
            </a:r>
          </a:p>
        </p:txBody>
      </p:sp>
      <p:pic>
        <p:nvPicPr>
          <p:cNvPr id="19" name="Picture 18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81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We Support the Whole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091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The child, caregivers, and other supports may each need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different accommodations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1091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We work as part of a team — we refer and coordinate for: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438144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3832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Further testing / evaluations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05072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95020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Occupational therapy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572000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17136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Speech &amp; language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5138928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508406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Educational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97880"/>
            <a:ext cx="999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2A39F"/>
                </a:solidFill>
                <a:latin typeface="Open Sans"/>
              </a:rPr>
              <a:t>…and we stay in contact with the child's other providers.</a:t>
            </a:r>
          </a:p>
        </p:txBody>
      </p:sp>
      <p:pic>
        <p:nvPicPr>
          <p:cNvPr id="18" name="Picture 17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81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FASD Families May Need More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091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2A39F"/>
                </a:solidFill>
                <a:latin typeface="Open Sans"/>
              </a:rPr>
              <a:t>Supports inside our program and out in the community: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91440" cy="169164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3429000" cy="169164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Educational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79191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Caregiver experts with lived experience help families advocate at school (e.g., Wright's Law).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965960"/>
            <a:ext cx="91440" cy="169164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965960"/>
            <a:ext cx="3429000" cy="169164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LRT — Local Review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679191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Brings multiple agencies together when a child needs more than one program can provide.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2752" y="1965960"/>
            <a:ext cx="91440" cy="169164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94192" y="1965960"/>
            <a:ext cx="3429000" cy="169164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Parent Advocate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679191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A dedicated advocate walking alongside the family.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13631"/>
            <a:ext cx="91440" cy="1691640"/>
          </a:xfrm>
          <a:prstGeom prst="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913631"/>
            <a:ext cx="3429000" cy="169164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96511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APD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626864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Agency for Persons with Disabilities supports.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913631"/>
            <a:ext cx="91440" cy="169164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3913631"/>
            <a:ext cx="3429000" cy="169164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4096511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CAT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5736" y="4626864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Community Action Team support.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2" y="3913631"/>
            <a:ext cx="91440" cy="169164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94192" y="3913631"/>
            <a:ext cx="3429000" cy="169164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4096511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TFC Supports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626864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Other therapies and services here at The Florida Center.</a:t>
            </a:r>
          </a:p>
        </p:txBody>
      </p:sp>
      <p:pic>
        <p:nvPicPr>
          <p:cNvPr id="32" name="Picture 31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81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Where We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7863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The Florida Center is a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Florida-licensed agency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 — so we can serve Medicaid clients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anywhere in the state.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73D"/>
                </a:solidFill>
                <a:latin typeface="Open Sans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There are no county or regional limits. These services are delivered by </a:t>
            </a:r>
            <a:r>
              <a:rPr sz="2200" b="1" i="0">
                <a:solidFill>
                  <a:srgbClr val="42BA97"/>
                </a:solidFill>
                <a:latin typeface="Open Sans"/>
              </a:rPr>
              <a:t>telehealth (virtually).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1920240"/>
            <a:ext cx="2834640" cy="2834640"/>
          </a:xfrm>
          <a:prstGeom prst="ellipse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88036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344068"/>
                </a:solidFill>
                <a:latin typeface="Open Sans"/>
              </a:rPr>
              <a:t>Statewide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482AB"/>
                </a:solidFill>
                <a:latin typeface="Open Sans"/>
              </a:rPr>
              <a:t>Telehealth</a:t>
            </a:r>
          </a:p>
        </p:txBody>
      </p:sp>
      <p:pic>
        <p:nvPicPr>
          <p:cNvPr id="10" name="Picture 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81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What This Means for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36776"/>
            <a:ext cx="999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344068"/>
                </a:solidFill>
                <a:latin typeface="Open Sans"/>
              </a:rPr>
              <a:t>Bring the lens with you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3373D"/>
                </a:solidFill>
                <a:latin typeface="Open Sans"/>
              </a:rPr>
              <a:t>You don't need to become an FASD specialist — add the brain-based lens to the work you already do.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62656"/>
            <a:ext cx="999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344068"/>
                </a:solidFill>
                <a:latin typeface="Open Sans"/>
              </a:rPr>
              <a:t>Look underneath the behavior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3373D"/>
                </a:solidFill>
                <a:latin typeface="Open Sans"/>
              </a:rPr>
              <a:t>Target the underlying skills (memory, focus, regulation), not just what's on the surface.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88536"/>
            <a:ext cx="999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344068"/>
                </a:solidFill>
                <a:latin typeface="Open Sans"/>
              </a:rPr>
              <a:t>Stay reflective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3373D"/>
                </a:solidFill>
                <a:latin typeface="Open Sans"/>
              </a:rPr>
              <a:t>Keep checking our own language, assumptions, and expectations.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15000"/>
            <a:ext cx="999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1">
                <a:solidFill>
                  <a:srgbClr val="1482AB"/>
                </a:solidFill>
                <a:latin typeface="Open Sans"/>
              </a:rPr>
              <a:t>Let's get started.</a:t>
            </a:r>
          </a:p>
        </p:txBody>
      </p:sp>
      <p:pic>
        <p:nvPicPr>
          <p:cNvPr id="17" name="Picture 16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2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4551</TotalTime>
  <Words>661</Words>
  <Application>Microsoft Office PowerPoint</Application>
  <PresentationFormat>Widescreen</PresentationFormat>
  <Paragraphs>127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Arvo</vt:lpstr>
      <vt:lpstr>Calibri</vt:lpstr>
      <vt:lpstr>Freestyle Script</vt:lpstr>
      <vt:lpstr>Open Sans</vt:lpstr>
      <vt:lpstr>Trebuchet MS</vt:lpstr>
      <vt:lpstr>Wingdings 3</vt:lpstr>
      <vt:lpstr>1_Retrospect</vt:lpstr>
      <vt:lpstr>2_Retrospect</vt:lpstr>
      <vt:lpstr>PowerPoint Presentation</vt:lpstr>
      <vt:lpstr>Please Get Comfortable</vt:lpstr>
      <vt:lpstr>Today We Will Learn:</vt:lpstr>
      <vt:lpstr>What Is Compliance?</vt:lpstr>
      <vt:lpstr>What Is Capacity?</vt:lpstr>
      <vt:lpstr>Why This Matters</vt:lpstr>
      <vt:lpstr>The Common Misinterpretation</vt:lpstr>
      <vt:lpstr>Capacity vs. Compliance</vt:lpstr>
      <vt:lpstr>Dependency &amp; Child Welfare Systems</vt:lpstr>
      <vt:lpstr>Early Childhood Court Considerations</vt:lpstr>
      <vt:lpstr>Criminal Justice Applications</vt:lpstr>
      <vt:lpstr>Warning Signs of Capacity Challenges</vt:lpstr>
      <vt:lpstr>Building Capacity</vt:lpstr>
      <vt:lpstr>System Shift: From Compliance to Capacity</vt:lpstr>
      <vt:lpstr>Case Example Discussion</vt:lpstr>
      <vt:lpstr>Key Takeaways</vt:lpstr>
      <vt:lpstr>Any Questions?</vt:lpstr>
      <vt:lpstr>Contact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Tamra Cajo</dc:creator>
  <cp:lastModifiedBy>Tamra Cajo</cp:lastModifiedBy>
  <cp:revision>124</cp:revision>
  <dcterms:created xsi:type="dcterms:W3CDTF">2026-05-08T18:38:00Z</dcterms:created>
  <dcterms:modified xsi:type="dcterms:W3CDTF">2026-06-09T11:57:49Z</dcterms:modified>
</cp:coreProperties>
</file>