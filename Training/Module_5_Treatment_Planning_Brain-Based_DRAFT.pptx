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9"/>
    <a:srgbClr val="0886A0"/>
    <a:srgbClr val="0BB2D5"/>
    <a:srgbClr val="0A546A"/>
    <a:srgbClr val="5B4EC7"/>
    <a:srgbClr val="687DE0"/>
    <a:srgbClr val="014B43"/>
    <a:srgbClr val="2977B7"/>
    <a:srgbClr val="53A2B5"/>
    <a:srgbClr val="FC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61" autoAdjust="0"/>
  </p:normalViewPr>
  <p:slideViewPr>
    <p:cSldViewPr snapToGrid="0">
      <p:cViewPr varScale="1">
        <p:scale>
          <a:sx n="115" d="100"/>
          <a:sy n="115" d="100"/>
        </p:scale>
        <p:origin x="41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4D495-273D-46E3-8952-8C68E204F3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B589-D696-468B-93B7-AE3B06BB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4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0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28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27380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17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8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8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62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88451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292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0520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815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893422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59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6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521"/>
            <a:ext cx="12188825" cy="561479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45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914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92000" cy="914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12192000" cy="914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Treatment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54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8C4CC"/>
                </a:solidFill>
                <a:latin typeface="Open Sans"/>
              </a:rPr>
              <a:t>Module 5  —  Through a Brain-Based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Brain-Based Mental Health Training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The Florida Center for Early Childhood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Presented by Tamra Cajo, LCSW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800600"/>
            <a:ext cx="2697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029200"/>
            <a:ext cx="2240280" cy="98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Planning Is Collaborative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The Treatment Plan is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required before services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— and it's built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Around the table: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38727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The family (and the client, where appropriate)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7880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4114800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The clinician and supervisor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81888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754879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Other treating practitioners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58968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7" y="5394959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Anyone the family wants included</a:t>
            </a:r>
          </a:p>
        </p:txBody>
      </p:sp>
      <p:pic>
        <p:nvPicPr>
          <p:cNvPr id="17" name="Picture 16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The Planning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Start with the outcome measures, then ask: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5000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286000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What do you hope to get out of treatment?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99815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035808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What's the goal for the parent? For the child?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49624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785615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How does meeting on a regular schedule feel?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99432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4535424"/>
            <a:ext cx="1061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Is this realistic for the child's brain — and where the caregiver is right now?</a:t>
            </a:r>
          </a:p>
        </p:txBody>
      </p:sp>
      <p:pic>
        <p:nvPicPr>
          <p:cNvPr id="16" name="Picture 15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Brain-Based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454400" cy="3291840"/>
          </a:xfrm>
          <a:prstGeom prst="round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202996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2905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Include the 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83280"/>
            <a:ext cx="2905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Open Sans"/>
              </a:rPr>
              <a:t>Caregivers and key adults shape the environment that drives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645920"/>
            <a:ext cx="3454400" cy="3291840"/>
          </a:xfrm>
          <a:prstGeom prst="round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1408" y="202996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120" y="2249424"/>
            <a:ext cx="2905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Aim for interdependence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120" y="3383280"/>
            <a:ext cx="2905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Open Sans"/>
              </a:rPr>
              <a:t>Healthy reliance on others — not independence at all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0672" y="1645920"/>
            <a:ext cx="3454400" cy="329184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63280" y="202996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4992" y="2249424"/>
            <a:ext cx="2905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Build trust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4992" y="3383280"/>
            <a:ext cx="2905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Open Sans"/>
              </a:rPr>
              <a:t>Felt safety comes before the harder work.</a:t>
            </a:r>
          </a:p>
        </p:txBody>
      </p:sp>
      <p:pic>
        <p:nvPicPr>
          <p:cNvPr id="19" name="Picture 18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Strengths-Based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0136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700784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Developmental age, not birthday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match goals to where the brain is.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523744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Small, concrete steps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with repetition and flexible pacing.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346704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Consistency everywhere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home, school, and therapy together.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169663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Shape the environment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lighting, clutter, and transitions matter.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Required Content &amp;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91440" cy="155448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1051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Measurable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22576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Specific and trackable — not other services.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645920"/>
            <a:ext cx="91440" cy="155448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0240" y="1645920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1408" y="181051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Crisis / Safety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1408" y="2322576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Always included.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0672" y="1645920"/>
            <a:ext cx="91440" cy="155448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2112" y="1645920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280" y="181051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Discharge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280" y="2322576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Restates the measurable objectives.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56432"/>
            <a:ext cx="91440" cy="155448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456432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21024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Service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133088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List every service (e.g., add Group).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800" y="3456432"/>
            <a:ext cx="91440" cy="155448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0240" y="3456432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1408" y="3621024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Give parents a 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1408" y="4133088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Every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0672" y="3456432"/>
            <a:ext cx="91440" cy="155448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2112" y="3456432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3280" y="3621024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Signatures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3280" y="4133088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Supervisor + 'Type 05' for Medicaid.</a:t>
            </a:r>
          </a:p>
        </p:txBody>
      </p:sp>
      <p:pic>
        <p:nvPicPr>
          <p:cNvPr id="31" name="Picture 30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Deadlines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92807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792224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44068"/>
                </a:solidFill>
                <a:latin typeface="Open Sans"/>
              </a:rPr>
              <a:t>Within 10 calendar days  </a:t>
            </a:r>
            <a:r>
              <a:rPr sz="1800" b="0" i="0">
                <a:solidFill>
                  <a:srgbClr val="33373D"/>
                </a:solidFill>
                <a:latin typeface="Open Sans"/>
              </a:rPr>
              <a:t>complete the plan after the assessment.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706624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44068"/>
                </a:solidFill>
                <a:latin typeface="Open Sans"/>
              </a:rPr>
              <a:t>Every 90 days  </a:t>
            </a:r>
            <a:r>
              <a:rPr sz="1800" b="0" i="0">
                <a:solidFill>
                  <a:srgbClr val="33373D"/>
                </a:solidFill>
                <a:latin typeface="Open Sans"/>
              </a:rPr>
              <a:t>review to keep the family eligible and progressing.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2160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621024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44068"/>
                </a:solidFill>
                <a:latin typeface="Open Sans"/>
              </a:rPr>
              <a:t>Changing mid-stream?  </a:t>
            </a:r>
            <a:r>
              <a:rPr sz="1800" b="0" i="0">
                <a:solidFill>
                  <a:srgbClr val="33373D"/>
                </a:solidFill>
                <a:latin typeface="Open Sans"/>
              </a:rPr>
              <a:t>add an Addendum — treatment follows the latest plan.</a:t>
            </a:r>
          </a:p>
        </p:txBody>
      </p:sp>
      <p:pic>
        <p:nvPicPr>
          <p:cNvPr id="13" name="Picture 12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Getting It Signed (FOXIT)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92807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828800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Save the completed plan with therapist/supervisor signature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743200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Upload to FOXIT and add the caregiver's email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2160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657600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Drop in the signature + date fields, then Send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6008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572000"/>
            <a:ext cx="106192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Save the signed plan back into Lauris, labeled correctly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4551</TotalTime>
  <Words>661</Words>
  <Application>Microsoft Office PowerPoint</Application>
  <PresentationFormat>Widescreen</PresentationFormat>
  <Paragraphs>127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Arvo</vt:lpstr>
      <vt:lpstr>Calibri</vt:lpstr>
      <vt:lpstr>Freestyle Script</vt:lpstr>
      <vt:lpstr>Open Sans</vt:lpstr>
      <vt:lpstr>Trebuchet MS</vt:lpstr>
      <vt:lpstr>Wingdings 3</vt:lpstr>
      <vt:lpstr>1_Retrospect</vt:lpstr>
      <vt:lpstr>2_Retrospect</vt:lpstr>
      <vt:lpstr>PowerPoint Presentation</vt:lpstr>
      <vt:lpstr>Please Get Comfortable</vt:lpstr>
      <vt:lpstr>Today We Will Learn:</vt:lpstr>
      <vt:lpstr>What Is Compliance?</vt:lpstr>
      <vt:lpstr>What Is Capacity?</vt:lpstr>
      <vt:lpstr>Why This Matters</vt:lpstr>
      <vt:lpstr>The Common Misinterpretation</vt:lpstr>
      <vt:lpstr>Capacity vs. Compliance</vt:lpstr>
      <vt:lpstr>Dependency &amp; Child Welfare Systems</vt:lpstr>
      <vt:lpstr>Early Childhood Court Considerations</vt:lpstr>
      <vt:lpstr>Criminal Justice Applications</vt:lpstr>
      <vt:lpstr>Warning Signs of Capacity Challenges</vt:lpstr>
      <vt:lpstr>Building Capacity</vt:lpstr>
      <vt:lpstr>System Shift: From Compliance to Capacity</vt:lpstr>
      <vt:lpstr>Case Example Discussion</vt:lpstr>
      <vt:lpstr>Key Takeaways</vt:lpstr>
      <vt:lpstr>Any Questions?</vt:lpstr>
      <vt:lpstr>Contact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Tamra Cajo</dc:creator>
  <cp:lastModifiedBy>Tamra Cajo</cp:lastModifiedBy>
  <cp:revision>124</cp:revision>
  <dcterms:created xsi:type="dcterms:W3CDTF">2026-05-08T18:38:00Z</dcterms:created>
  <dcterms:modified xsi:type="dcterms:W3CDTF">2026-06-09T11:57:49Z</dcterms:modified>
</cp:coreProperties>
</file>